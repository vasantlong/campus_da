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953" autoAdjust="0"/>
    <p:restoredTop sz="94660"/>
  </p:normalViewPr>
  <p:slideViewPr>
    <p:cSldViewPr snapToGrid="0">
      <p:cViewPr>
        <p:scale>
          <a:sx n="150" d="100"/>
          <a:sy n="150" d="100"/>
        </p:scale>
        <p:origin x="-92" y="-2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65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1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8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633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67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701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84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601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9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76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77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41F44-8957-443B-A5F3-46A7AA7752A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A2280-2EC2-4E2A-BC96-064D684E57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769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/>
          <p:cNvSpPr/>
          <p:nvPr/>
        </p:nvSpPr>
        <p:spPr>
          <a:xfrm>
            <a:off x="712243" y="1491612"/>
            <a:ext cx="5300133" cy="82698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lgDashDot"/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5" name="圆角矩形 29">
            <a:extLst>
              <a:ext uri="{FF2B5EF4-FFF2-40B4-BE49-F238E27FC236}">
                <a16:creationId xmlns:a16="http://schemas.microsoft.com/office/drawing/2014/main" id="{0500FCE6-B9C7-524F-38DE-1ABCDBB90438}"/>
              </a:ext>
            </a:extLst>
          </p:cNvPr>
          <p:cNvSpPr/>
          <p:nvPr/>
        </p:nvSpPr>
        <p:spPr>
          <a:xfrm>
            <a:off x="712243" y="5223131"/>
            <a:ext cx="5300133" cy="212436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lgDashDot"/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2243" y="235151"/>
            <a:ext cx="5300133" cy="88137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lgDashDot"/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712243" y="2742011"/>
            <a:ext cx="5300133" cy="211267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lgDashDot"/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712243" y="7763788"/>
            <a:ext cx="5300133" cy="20111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lgDashDot"/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1778BEBC-03A5-394B-E967-64B63FC3B43C}"/>
              </a:ext>
            </a:extLst>
          </p:cNvPr>
          <p:cNvGrpSpPr/>
          <p:nvPr/>
        </p:nvGrpSpPr>
        <p:grpSpPr>
          <a:xfrm>
            <a:off x="781623" y="760232"/>
            <a:ext cx="5131428" cy="226174"/>
            <a:chOff x="781622" y="812695"/>
            <a:chExt cx="5131428" cy="226174"/>
          </a:xfrm>
        </p:grpSpPr>
        <p:sp>
          <p:nvSpPr>
            <p:cNvPr id="5" name="圆角矩形 4"/>
            <p:cNvSpPr/>
            <p:nvPr/>
          </p:nvSpPr>
          <p:spPr>
            <a:xfrm>
              <a:off x="781622" y="812695"/>
              <a:ext cx="1073227" cy="226174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研究背景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249840" y="812695"/>
              <a:ext cx="1073227" cy="226174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研究意义与方法</a:t>
              </a: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3718058" y="812695"/>
              <a:ext cx="900000" cy="226174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特色与创新点</a:t>
              </a: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013050" y="812695"/>
              <a:ext cx="900000" cy="226174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文献评述</a:t>
              </a:r>
            </a:p>
          </p:txBody>
        </p:sp>
      </p:grpSp>
      <p:cxnSp>
        <p:nvCxnSpPr>
          <p:cNvPr id="10" name="肘形连接符 9"/>
          <p:cNvCxnSpPr>
            <a:cxnSpLocks/>
            <a:stCxn id="353" idx="2"/>
            <a:endCxn id="5" idx="0"/>
          </p:cNvCxnSpPr>
          <p:nvPr/>
        </p:nvCxnSpPr>
        <p:spPr>
          <a:xfrm rot="5400000">
            <a:off x="2222555" y="-379523"/>
            <a:ext cx="235437" cy="204407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cxnSpLocks/>
            <a:stCxn id="7" idx="0"/>
            <a:endCxn id="353" idx="2"/>
          </p:cNvCxnSpPr>
          <p:nvPr/>
        </p:nvCxnSpPr>
        <p:spPr>
          <a:xfrm rot="16200000" flipV="1">
            <a:off x="3647466" y="239639"/>
            <a:ext cx="235437" cy="80575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cxnSpLocks/>
            <a:stCxn id="353" idx="2"/>
            <a:endCxn id="6" idx="0"/>
          </p:cNvCxnSpPr>
          <p:nvPr/>
        </p:nvCxnSpPr>
        <p:spPr>
          <a:xfrm rot="5400000">
            <a:off x="2956664" y="354586"/>
            <a:ext cx="235437" cy="57585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139498" y="235151"/>
            <a:ext cx="216000" cy="881370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绪论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6336031" y="235151"/>
            <a:ext cx="252000" cy="881370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95000"/>
                    <a:lumOff val="5000"/>
                  </a:schemeClr>
                </a:solidFill>
              </a:rPr>
              <a:t>第一章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2596401" y="1578029"/>
            <a:ext cx="1512000" cy="22617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样本容量确定及抽样方式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4352018" y="1578029"/>
            <a:ext cx="1512000" cy="22617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调查实施及质量控制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840784" y="1578029"/>
            <a:ext cx="1512000" cy="22617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调查方案设计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139498" y="1226760"/>
            <a:ext cx="216000" cy="1356684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调查方案策划及实施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6336031" y="1464417"/>
            <a:ext cx="252000" cy="88137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第二章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2486009" y="2819664"/>
            <a:ext cx="1752600" cy="226174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天津市轻食市场消费特征</a:t>
            </a:r>
          </a:p>
        </p:txBody>
      </p:sp>
      <p:cxnSp>
        <p:nvCxnSpPr>
          <p:cNvPr id="31" name="肘形连接符 30"/>
          <p:cNvCxnSpPr>
            <a:stCxn id="26" idx="2"/>
            <a:endCxn id="27" idx="0"/>
          </p:cNvCxnSpPr>
          <p:nvPr/>
        </p:nvCxnSpPr>
        <p:spPr>
          <a:xfrm rot="5400000">
            <a:off x="2263523" y="2095906"/>
            <a:ext cx="148854" cy="2048719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26" idx="2"/>
            <a:endCxn id="28" idx="0"/>
          </p:cNvCxnSpPr>
          <p:nvPr/>
        </p:nvCxnSpPr>
        <p:spPr>
          <a:xfrm rot="5400000">
            <a:off x="2937459" y="2769842"/>
            <a:ext cx="148854" cy="700847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6" idx="2"/>
            <a:endCxn id="29" idx="0"/>
          </p:cNvCxnSpPr>
          <p:nvPr/>
        </p:nvCxnSpPr>
        <p:spPr>
          <a:xfrm rot="16200000" flipH="1">
            <a:off x="3627816" y="2780330"/>
            <a:ext cx="148854" cy="679869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139498" y="3229952"/>
            <a:ext cx="216000" cy="1136788"/>
          </a:xfrm>
          <a:prstGeom prst="roundRect">
            <a:avLst>
              <a:gd name="adj" fmla="val 0"/>
            </a:avLst>
          </a:prstGeom>
          <a:solidFill>
            <a:srgbClr val="BDD7EE"/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数据分析：总体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336031" y="3357661"/>
            <a:ext cx="252000" cy="881370"/>
          </a:xfrm>
          <a:prstGeom prst="roundRect">
            <a:avLst>
              <a:gd name="adj" fmla="val 0"/>
            </a:avLst>
          </a:prstGeom>
          <a:solidFill>
            <a:srgbClr val="BDD7EE"/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95000"/>
                    <a:lumOff val="5000"/>
                  </a:schemeClr>
                </a:solidFill>
              </a:rPr>
              <a:t>第三章</a:t>
            </a:r>
          </a:p>
        </p:txBody>
      </p:sp>
      <p:cxnSp>
        <p:nvCxnSpPr>
          <p:cNvPr id="54" name="肘形连接符 53"/>
          <p:cNvCxnSpPr>
            <a:cxnSpLocks/>
            <a:stCxn id="28" idx="2"/>
            <a:endCxn id="40" idx="0"/>
          </p:cNvCxnSpPr>
          <p:nvPr/>
        </p:nvCxnSpPr>
        <p:spPr>
          <a:xfrm rot="5400000">
            <a:off x="2162480" y="3213046"/>
            <a:ext cx="193336" cy="80462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连接符 54"/>
          <p:cNvCxnSpPr>
            <a:cxnSpLocks/>
            <a:stCxn id="28" idx="2"/>
            <a:endCxn id="45" idx="0"/>
          </p:cNvCxnSpPr>
          <p:nvPr/>
        </p:nvCxnSpPr>
        <p:spPr>
          <a:xfrm rot="16200000" flipH="1">
            <a:off x="2959921" y="3220232"/>
            <a:ext cx="204953" cy="80187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cxnSpLocks/>
            <a:stCxn id="28" idx="2"/>
            <a:endCxn id="43" idx="0"/>
          </p:cNvCxnSpPr>
          <p:nvPr/>
        </p:nvCxnSpPr>
        <p:spPr>
          <a:xfrm rot="16200000" flipH="1">
            <a:off x="2764917" y="3415236"/>
            <a:ext cx="193336" cy="40024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连接符 57"/>
          <p:cNvCxnSpPr>
            <a:cxnSpLocks/>
            <a:stCxn id="28" idx="2"/>
          </p:cNvCxnSpPr>
          <p:nvPr/>
        </p:nvCxnSpPr>
        <p:spPr>
          <a:xfrm rot="5400000">
            <a:off x="2545055" y="3633721"/>
            <a:ext cx="231436" cy="1378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cxnSpLocks/>
            <a:stCxn id="28" idx="2"/>
            <a:endCxn id="41" idx="0"/>
          </p:cNvCxnSpPr>
          <p:nvPr/>
        </p:nvCxnSpPr>
        <p:spPr>
          <a:xfrm rot="5400000">
            <a:off x="2363293" y="3413859"/>
            <a:ext cx="193336" cy="40300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圆角矩形 63"/>
          <p:cNvSpPr/>
          <p:nvPr/>
        </p:nvSpPr>
        <p:spPr>
          <a:xfrm>
            <a:off x="2462309" y="5292626"/>
            <a:ext cx="1800000" cy="22617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KPRO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肯律轻食消费需求分析</a:t>
            </a:r>
          </a:p>
        </p:txBody>
      </p:sp>
      <p:sp>
        <p:nvSpPr>
          <p:cNvPr id="65" name="圆角矩形 64"/>
          <p:cNvSpPr/>
          <p:nvPr/>
        </p:nvSpPr>
        <p:spPr>
          <a:xfrm>
            <a:off x="863727" y="5726017"/>
            <a:ext cx="1152000" cy="324000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认知与情感分析</a:t>
            </a:r>
          </a:p>
        </p:txBody>
      </p:sp>
      <p:sp>
        <p:nvSpPr>
          <p:cNvPr id="66" name="圆角矩形 65"/>
          <p:cNvSpPr/>
          <p:nvPr/>
        </p:nvSpPr>
        <p:spPr>
          <a:xfrm>
            <a:off x="2171690" y="5726017"/>
            <a:ext cx="1152000" cy="324000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竞品分析</a:t>
            </a:r>
          </a:p>
        </p:txBody>
      </p:sp>
      <p:sp>
        <p:nvSpPr>
          <p:cNvPr id="67" name="圆角矩形 66"/>
          <p:cNvSpPr/>
          <p:nvPr/>
        </p:nvSpPr>
        <p:spPr>
          <a:xfrm>
            <a:off x="3473517" y="5726017"/>
            <a:ext cx="1152000" cy="324000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KPRO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购买因素</a:t>
            </a:r>
          </a:p>
        </p:txBody>
      </p:sp>
      <p:cxnSp>
        <p:nvCxnSpPr>
          <p:cNvPr id="68" name="肘形连接符 67"/>
          <p:cNvCxnSpPr>
            <a:stCxn id="64" idx="2"/>
            <a:endCxn id="65" idx="0"/>
          </p:cNvCxnSpPr>
          <p:nvPr/>
        </p:nvCxnSpPr>
        <p:spPr>
          <a:xfrm rot="5400000">
            <a:off x="2297410" y="4661117"/>
            <a:ext cx="207217" cy="1922582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68"/>
          <p:cNvCxnSpPr>
            <a:stCxn id="64" idx="2"/>
            <a:endCxn id="66" idx="0"/>
          </p:cNvCxnSpPr>
          <p:nvPr/>
        </p:nvCxnSpPr>
        <p:spPr>
          <a:xfrm rot="5400000">
            <a:off x="2951392" y="5315099"/>
            <a:ext cx="207217" cy="614619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肘形连接符 69"/>
          <p:cNvCxnSpPr>
            <a:stCxn id="64" idx="2"/>
            <a:endCxn id="67" idx="0"/>
          </p:cNvCxnSpPr>
          <p:nvPr/>
        </p:nvCxnSpPr>
        <p:spPr>
          <a:xfrm rot="16200000" flipH="1">
            <a:off x="3602305" y="5278804"/>
            <a:ext cx="207217" cy="687208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9FC7232F-85A8-5261-218D-EAA2FADC3202}"/>
              </a:ext>
            </a:extLst>
          </p:cNvPr>
          <p:cNvGrpSpPr/>
          <p:nvPr/>
        </p:nvGrpSpPr>
        <p:grpSpPr>
          <a:xfrm>
            <a:off x="1660197" y="3671059"/>
            <a:ext cx="2002531" cy="1116000"/>
            <a:chOff x="2473050" y="4454978"/>
            <a:chExt cx="2002531" cy="969495"/>
          </a:xfrm>
        </p:grpSpPr>
        <p:sp>
          <p:nvSpPr>
            <p:cNvPr id="40" name="圆角矩形 39"/>
            <p:cNvSpPr/>
            <p:nvPr/>
          </p:nvSpPr>
          <p:spPr>
            <a:xfrm>
              <a:off x="2507687" y="4490569"/>
              <a:ext cx="324000" cy="88137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基本特征</a:t>
              </a: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2909312" y="4490569"/>
              <a:ext cx="324000" cy="88137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轻食认知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与购买行为</a:t>
              </a: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3310937" y="4490569"/>
              <a:ext cx="324000" cy="88137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消费动机与顾虑</a:t>
              </a: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3712562" y="4490569"/>
              <a:ext cx="324000" cy="88137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消费偏好</a:t>
              </a:r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4114186" y="4500661"/>
              <a:ext cx="324000" cy="861186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研究基础</a:t>
              </a: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2473050" y="4454978"/>
              <a:ext cx="2002531" cy="96949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lgDash"/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05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87" name="圆角矩形 86"/>
          <p:cNvSpPr/>
          <p:nvPr/>
        </p:nvSpPr>
        <p:spPr>
          <a:xfrm>
            <a:off x="1694917" y="7838210"/>
            <a:ext cx="900000" cy="216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结论</a:t>
            </a:r>
          </a:p>
        </p:txBody>
      </p:sp>
      <p:sp>
        <p:nvSpPr>
          <p:cNvPr id="88" name="圆角矩形 87"/>
          <p:cNvSpPr/>
          <p:nvPr/>
        </p:nvSpPr>
        <p:spPr>
          <a:xfrm>
            <a:off x="781623" y="8206080"/>
            <a:ext cx="1224000" cy="216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天津市轻食市场需求</a:t>
            </a:r>
          </a:p>
        </p:txBody>
      </p:sp>
      <p:sp>
        <p:nvSpPr>
          <p:cNvPr id="89" name="圆角矩形 88"/>
          <p:cNvSpPr/>
          <p:nvPr/>
        </p:nvSpPr>
        <p:spPr>
          <a:xfrm>
            <a:off x="2126480" y="8206080"/>
            <a:ext cx="1224000" cy="216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KPRO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肯律轻食需求</a:t>
            </a:r>
          </a:p>
        </p:txBody>
      </p:sp>
      <p:cxnSp>
        <p:nvCxnSpPr>
          <p:cNvPr id="93" name="肘形连接符 92"/>
          <p:cNvCxnSpPr>
            <a:cxnSpLocks/>
            <a:stCxn id="87" idx="2"/>
            <a:endCxn id="88" idx="0"/>
          </p:cNvCxnSpPr>
          <p:nvPr/>
        </p:nvCxnSpPr>
        <p:spPr>
          <a:xfrm rot="5400000">
            <a:off x="1693335" y="7754498"/>
            <a:ext cx="151870" cy="751294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/>
          <p:cNvCxnSpPr>
            <a:cxnSpLocks/>
            <a:stCxn id="87" idx="2"/>
            <a:endCxn id="89" idx="0"/>
          </p:cNvCxnSpPr>
          <p:nvPr/>
        </p:nvCxnSpPr>
        <p:spPr>
          <a:xfrm rot="16200000" flipH="1">
            <a:off x="2365763" y="7833363"/>
            <a:ext cx="151870" cy="593563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圆角矩形 96"/>
          <p:cNvSpPr/>
          <p:nvPr/>
        </p:nvSpPr>
        <p:spPr>
          <a:xfrm>
            <a:off x="847080" y="8613316"/>
            <a:ext cx="360000" cy="1080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主要消费群体</a:t>
            </a:r>
          </a:p>
        </p:txBody>
      </p:sp>
      <p:sp>
        <p:nvSpPr>
          <p:cNvPr id="100" name="圆角矩形 99"/>
          <p:cNvSpPr/>
          <p:nvPr/>
        </p:nvSpPr>
        <p:spPr>
          <a:xfrm>
            <a:off x="1589175" y="8613316"/>
            <a:ext cx="360000" cy="1080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四类人群</a:t>
            </a:r>
            <a:endParaRPr lang="en-US" altLang="zh-CN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显著特征</a:t>
            </a:r>
          </a:p>
        </p:txBody>
      </p:sp>
      <p:cxnSp>
        <p:nvCxnSpPr>
          <p:cNvPr id="101" name="肘形连接符 100"/>
          <p:cNvCxnSpPr>
            <a:cxnSpLocks/>
            <a:stCxn id="88" idx="2"/>
            <a:endCxn id="97" idx="0"/>
          </p:cNvCxnSpPr>
          <p:nvPr/>
        </p:nvCxnSpPr>
        <p:spPr>
          <a:xfrm rot="5400000">
            <a:off x="1114734" y="8334427"/>
            <a:ext cx="191236" cy="366543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cxnSpLocks/>
            <a:stCxn id="88" idx="2"/>
            <a:endCxn id="100" idx="0"/>
          </p:cNvCxnSpPr>
          <p:nvPr/>
        </p:nvCxnSpPr>
        <p:spPr>
          <a:xfrm rot="16200000" flipH="1">
            <a:off x="1485781" y="8329922"/>
            <a:ext cx="191236" cy="375552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圆角矩形 104"/>
          <p:cNvSpPr/>
          <p:nvPr/>
        </p:nvSpPr>
        <p:spPr>
          <a:xfrm>
            <a:off x="2558480" y="8613205"/>
            <a:ext cx="360000" cy="1080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消费者整体评价</a:t>
            </a:r>
            <a:endParaRPr lang="en-US" altLang="zh-CN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与改进空间</a:t>
            </a:r>
          </a:p>
        </p:txBody>
      </p:sp>
      <p:cxnSp>
        <p:nvCxnSpPr>
          <p:cNvPr id="114" name="肘形连接符 113"/>
          <p:cNvCxnSpPr>
            <a:cxnSpLocks/>
            <a:stCxn id="89" idx="2"/>
            <a:endCxn id="105" idx="0"/>
          </p:cNvCxnSpPr>
          <p:nvPr/>
        </p:nvCxnSpPr>
        <p:spPr>
          <a:xfrm rot="5400000">
            <a:off x="2642918" y="8517642"/>
            <a:ext cx="191125" cy="12700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肘形连接符 115"/>
          <p:cNvCxnSpPr>
            <a:cxnSpLocks/>
            <a:stCxn id="91" idx="2"/>
            <a:endCxn id="107" idx="0"/>
          </p:cNvCxnSpPr>
          <p:nvPr/>
        </p:nvCxnSpPr>
        <p:spPr>
          <a:xfrm rot="5400000">
            <a:off x="4014572" y="7726953"/>
            <a:ext cx="315046" cy="100025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肘形连接符 116"/>
          <p:cNvCxnSpPr>
            <a:cxnSpLocks/>
            <a:stCxn id="91" idx="2"/>
            <a:endCxn id="110" idx="0"/>
          </p:cNvCxnSpPr>
          <p:nvPr/>
        </p:nvCxnSpPr>
        <p:spPr>
          <a:xfrm rot="16200000" flipH="1">
            <a:off x="4764880" y="7976898"/>
            <a:ext cx="315046" cy="50036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肘形连接符 117"/>
          <p:cNvCxnSpPr>
            <a:cxnSpLocks/>
            <a:stCxn id="91" idx="2"/>
            <a:endCxn id="108" idx="0"/>
          </p:cNvCxnSpPr>
          <p:nvPr/>
        </p:nvCxnSpPr>
        <p:spPr>
          <a:xfrm rot="5400000">
            <a:off x="4264675" y="7977056"/>
            <a:ext cx="315046" cy="500049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肘形连接符 118"/>
          <p:cNvCxnSpPr>
            <a:cxnSpLocks/>
            <a:stCxn id="91" idx="2"/>
            <a:endCxn id="109" idx="0"/>
          </p:cNvCxnSpPr>
          <p:nvPr/>
        </p:nvCxnSpPr>
        <p:spPr>
          <a:xfrm rot="16200000" flipH="1">
            <a:off x="4514777" y="8227001"/>
            <a:ext cx="315046" cy="15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肘形连接符 120"/>
          <p:cNvCxnSpPr>
            <a:cxnSpLocks/>
            <a:stCxn id="91" idx="2"/>
            <a:endCxn id="113" idx="0"/>
          </p:cNvCxnSpPr>
          <p:nvPr/>
        </p:nvCxnSpPr>
        <p:spPr>
          <a:xfrm rot="16200000" flipH="1">
            <a:off x="5014983" y="7726796"/>
            <a:ext cx="315046" cy="1000568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圆角矩形 122"/>
          <p:cNvSpPr/>
          <p:nvPr/>
        </p:nvSpPr>
        <p:spPr>
          <a:xfrm>
            <a:off x="781623" y="8558530"/>
            <a:ext cx="1230057" cy="1172545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lgDash"/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4" name="圆角矩形 123"/>
          <p:cNvSpPr/>
          <p:nvPr/>
        </p:nvSpPr>
        <p:spPr>
          <a:xfrm>
            <a:off x="2513451" y="8558530"/>
            <a:ext cx="450059" cy="1172545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lgDash"/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4132222" y="7853557"/>
            <a:ext cx="1080000" cy="216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建议（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AIDAS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）</a:t>
            </a:r>
          </a:p>
        </p:txBody>
      </p: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71CC874C-0893-1802-B89E-81BCAA42DC90}"/>
              </a:ext>
            </a:extLst>
          </p:cNvPr>
          <p:cNvGrpSpPr/>
          <p:nvPr/>
        </p:nvGrpSpPr>
        <p:grpSpPr>
          <a:xfrm>
            <a:off x="3439746" y="8327972"/>
            <a:ext cx="2455815" cy="1403104"/>
            <a:chOff x="3355080" y="7724775"/>
            <a:chExt cx="2455815" cy="1194770"/>
          </a:xfrm>
        </p:grpSpPr>
        <p:sp>
          <p:nvSpPr>
            <p:cNvPr id="107" name="圆角矩形 106"/>
            <p:cNvSpPr/>
            <p:nvPr/>
          </p:nvSpPr>
          <p:spPr>
            <a:xfrm>
              <a:off x="3407301" y="7772997"/>
              <a:ext cx="360000" cy="1116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fr-FR" sz="1050" dirty="0"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提高知名度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：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破圈，扩大轻食认知</a:t>
              </a:r>
            </a:p>
          </p:txBody>
        </p:sp>
        <p:sp>
          <p:nvSpPr>
            <p:cNvPr id="108" name="圆角矩形 107"/>
            <p:cNvSpPr/>
            <p:nvPr/>
          </p:nvSpPr>
          <p:spPr>
            <a:xfrm>
              <a:off x="3907507" y="7772997"/>
              <a:ext cx="360000" cy="1116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引发兴趣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：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打造记忆点产品</a:t>
              </a:r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4407713" y="7772997"/>
              <a:ext cx="360000" cy="1116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激发欲望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：强化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品质感与性价比认知</a:t>
              </a:r>
            </a:p>
          </p:txBody>
        </p:sp>
        <p:sp>
          <p:nvSpPr>
            <p:cNvPr id="110" name="圆角矩形 109"/>
            <p:cNvSpPr/>
            <p:nvPr/>
          </p:nvSpPr>
          <p:spPr>
            <a:xfrm>
              <a:off x="4907919" y="7772997"/>
              <a:ext cx="360000" cy="1116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促进行动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：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提高购买便利性</a:t>
              </a:r>
            </a:p>
          </p:txBody>
        </p:sp>
        <p:sp>
          <p:nvSpPr>
            <p:cNvPr id="113" name="圆角矩形 112"/>
            <p:cNvSpPr/>
            <p:nvPr/>
          </p:nvSpPr>
          <p:spPr>
            <a:xfrm>
              <a:off x="5408124" y="7772997"/>
              <a:ext cx="360000" cy="1116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获得满足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：打造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品质与售后协同机制</a:t>
              </a:r>
            </a:p>
          </p:txBody>
        </p:sp>
        <p:sp>
          <p:nvSpPr>
            <p:cNvPr id="125" name="圆角矩形 124"/>
            <p:cNvSpPr/>
            <p:nvPr/>
          </p:nvSpPr>
          <p:spPr>
            <a:xfrm>
              <a:off x="3355080" y="7724775"/>
              <a:ext cx="2455815" cy="119477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lgDash"/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28" name="下箭头 127"/>
          <p:cNvSpPr>
            <a:spLocks noChangeAspect="1"/>
          </p:cNvSpPr>
          <p:nvPr/>
        </p:nvSpPr>
        <p:spPr>
          <a:xfrm>
            <a:off x="3152773" y="1161500"/>
            <a:ext cx="360000" cy="295428"/>
          </a:xfrm>
          <a:prstGeom prst="downArrow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下箭头 128"/>
          <p:cNvSpPr>
            <a:spLocks noChangeAspect="1"/>
          </p:cNvSpPr>
          <p:nvPr/>
        </p:nvSpPr>
        <p:spPr>
          <a:xfrm>
            <a:off x="3152773" y="2383271"/>
            <a:ext cx="360000" cy="299804"/>
          </a:xfrm>
          <a:prstGeom prst="downArrow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下箭头 129"/>
          <p:cNvSpPr>
            <a:spLocks noChangeAspect="1"/>
          </p:cNvSpPr>
          <p:nvPr/>
        </p:nvSpPr>
        <p:spPr>
          <a:xfrm>
            <a:off x="3152773" y="7393429"/>
            <a:ext cx="360000" cy="299804"/>
          </a:xfrm>
          <a:prstGeom prst="downArrow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圆角矩形 131"/>
          <p:cNvSpPr/>
          <p:nvPr/>
        </p:nvSpPr>
        <p:spPr>
          <a:xfrm>
            <a:off x="139498" y="8328653"/>
            <a:ext cx="216000" cy="88137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结论与建议</a:t>
            </a:r>
          </a:p>
        </p:txBody>
      </p:sp>
      <p:sp>
        <p:nvSpPr>
          <p:cNvPr id="133" name="圆角矩形 132"/>
          <p:cNvSpPr/>
          <p:nvPr/>
        </p:nvSpPr>
        <p:spPr>
          <a:xfrm>
            <a:off x="6336031" y="8328653"/>
            <a:ext cx="252000" cy="88137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第五章</a:t>
            </a:r>
          </a:p>
        </p:txBody>
      </p:sp>
      <p:cxnSp>
        <p:nvCxnSpPr>
          <p:cNvPr id="134" name="直接连接符 133"/>
          <p:cNvCxnSpPr>
            <a:stCxn id="14" idx="3"/>
            <a:endCxn id="9" idx="1"/>
          </p:cNvCxnSpPr>
          <p:nvPr/>
        </p:nvCxnSpPr>
        <p:spPr>
          <a:xfrm>
            <a:off x="355498" y="675836"/>
            <a:ext cx="356745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>
            <a:cxnSpLocks/>
            <a:stCxn id="24" idx="3"/>
            <a:endCxn id="20" idx="1"/>
          </p:cNvCxnSpPr>
          <p:nvPr/>
        </p:nvCxnSpPr>
        <p:spPr>
          <a:xfrm>
            <a:off x="355498" y="1905102"/>
            <a:ext cx="356745" cy="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cxnSpLocks/>
            <a:stCxn id="34" idx="3"/>
            <a:endCxn id="30" idx="1"/>
          </p:cNvCxnSpPr>
          <p:nvPr/>
        </p:nvCxnSpPr>
        <p:spPr>
          <a:xfrm>
            <a:off x="355498" y="3798346"/>
            <a:ext cx="356745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>
            <a:cxnSpLocks/>
            <a:stCxn id="132" idx="3"/>
            <a:endCxn id="92" idx="1"/>
          </p:cNvCxnSpPr>
          <p:nvPr/>
        </p:nvCxnSpPr>
        <p:spPr>
          <a:xfrm>
            <a:off x="355498" y="8769338"/>
            <a:ext cx="356745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>
            <a:cxnSpLocks/>
            <a:stCxn id="35" idx="1"/>
            <a:endCxn id="30" idx="3"/>
          </p:cNvCxnSpPr>
          <p:nvPr/>
        </p:nvCxnSpPr>
        <p:spPr>
          <a:xfrm flipH="1">
            <a:off x="6012376" y="3798346"/>
            <a:ext cx="323655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>
            <a:cxnSpLocks/>
            <a:stCxn id="25" idx="1"/>
            <a:endCxn id="20" idx="3"/>
          </p:cNvCxnSpPr>
          <p:nvPr/>
        </p:nvCxnSpPr>
        <p:spPr>
          <a:xfrm flipH="1">
            <a:off x="6012376" y="1905102"/>
            <a:ext cx="323655" cy="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>
            <a:stCxn id="15" idx="1"/>
            <a:endCxn id="9" idx="3"/>
          </p:cNvCxnSpPr>
          <p:nvPr/>
        </p:nvCxnSpPr>
        <p:spPr>
          <a:xfrm flipH="1">
            <a:off x="6012376" y="675836"/>
            <a:ext cx="323655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>
            <a:cxnSpLocks/>
            <a:stCxn id="133" idx="1"/>
            <a:endCxn id="92" idx="3"/>
          </p:cNvCxnSpPr>
          <p:nvPr/>
        </p:nvCxnSpPr>
        <p:spPr>
          <a:xfrm flipH="1">
            <a:off x="6012376" y="8769338"/>
            <a:ext cx="323655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圆角矩形 66">
            <a:extLst>
              <a:ext uri="{FF2B5EF4-FFF2-40B4-BE49-F238E27FC236}">
                <a16:creationId xmlns:a16="http://schemas.microsoft.com/office/drawing/2014/main" id="{DEEDD79C-DE7A-AFD4-008F-EA68FF97A1E3}"/>
              </a:ext>
            </a:extLst>
          </p:cNvPr>
          <p:cNvSpPr/>
          <p:nvPr/>
        </p:nvSpPr>
        <p:spPr>
          <a:xfrm>
            <a:off x="4819019" y="1985140"/>
            <a:ext cx="1080000" cy="22617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问卷设计</a:t>
            </a:r>
          </a:p>
        </p:txBody>
      </p:sp>
      <p:cxnSp>
        <p:nvCxnSpPr>
          <p:cNvPr id="204" name="肘形连接符 69">
            <a:extLst>
              <a:ext uri="{FF2B5EF4-FFF2-40B4-BE49-F238E27FC236}">
                <a16:creationId xmlns:a16="http://schemas.microsoft.com/office/drawing/2014/main" id="{31C50DBB-249C-8D7B-CBF8-053080F628F3}"/>
              </a:ext>
            </a:extLst>
          </p:cNvPr>
          <p:cNvCxnSpPr>
            <a:cxnSpLocks/>
            <a:stCxn id="18" idx="2"/>
            <a:endCxn id="203" idx="0"/>
          </p:cNvCxnSpPr>
          <p:nvPr/>
        </p:nvCxnSpPr>
        <p:spPr>
          <a:xfrm rot="16200000" flipH="1">
            <a:off x="5143050" y="1769170"/>
            <a:ext cx="180937" cy="251001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圆角矩形 66">
            <a:extLst>
              <a:ext uri="{FF2B5EF4-FFF2-40B4-BE49-F238E27FC236}">
                <a16:creationId xmlns:a16="http://schemas.microsoft.com/office/drawing/2014/main" id="{BDD87411-B6C1-92FC-E115-912E8B472F8B}"/>
              </a:ext>
            </a:extLst>
          </p:cNvPr>
          <p:cNvSpPr/>
          <p:nvPr/>
        </p:nvSpPr>
        <p:spPr>
          <a:xfrm>
            <a:off x="3565825" y="1985140"/>
            <a:ext cx="1080000" cy="22617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预调查</a:t>
            </a:r>
          </a:p>
        </p:txBody>
      </p:sp>
      <p:cxnSp>
        <p:nvCxnSpPr>
          <p:cNvPr id="207" name="肘形连接符 69">
            <a:extLst>
              <a:ext uri="{FF2B5EF4-FFF2-40B4-BE49-F238E27FC236}">
                <a16:creationId xmlns:a16="http://schemas.microsoft.com/office/drawing/2014/main" id="{3EF32727-9145-B048-FADC-186A63462C52}"/>
              </a:ext>
            </a:extLst>
          </p:cNvPr>
          <p:cNvCxnSpPr>
            <a:cxnSpLocks/>
            <a:stCxn id="18" idx="2"/>
            <a:endCxn id="206" idx="0"/>
          </p:cNvCxnSpPr>
          <p:nvPr/>
        </p:nvCxnSpPr>
        <p:spPr>
          <a:xfrm rot="5400000">
            <a:off x="4516454" y="1393575"/>
            <a:ext cx="180937" cy="1002193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圆角矩形 66">
            <a:extLst>
              <a:ext uri="{FF2B5EF4-FFF2-40B4-BE49-F238E27FC236}">
                <a16:creationId xmlns:a16="http://schemas.microsoft.com/office/drawing/2014/main" id="{79601BF1-942D-F5A6-AB94-214357235E51}"/>
              </a:ext>
            </a:extLst>
          </p:cNvPr>
          <p:cNvSpPr/>
          <p:nvPr/>
        </p:nvSpPr>
        <p:spPr>
          <a:xfrm>
            <a:off x="1059437" y="1985140"/>
            <a:ext cx="1080000" cy="22617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目的、对象、方式</a:t>
            </a:r>
          </a:p>
        </p:txBody>
      </p:sp>
      <p:cxnSp>
        <p:nvCxnSpPr>
          <p:cNvPr id="217" name="肘形连接符 69">
            <a:extLst>
              <a:ext uri="{FF2B5EF4-FFF2-40B4-BE49-F238E27FC236}">
                <a16:creationId xmlns:a16="http://schemas.microsoft.com/office/drawing/2014/main" id="{D6D2BC9E-0F6C-7232-C444-1A94F5E3DBF7}"/>
              </a:ext>
            </a:extLst>
          </p:cNvPr>
          <p:cNvCxnSpPr>
            <a:cxnSpLocks/>
            <a:stCxn id="19" idx="2"/>
            <a:endCxn id="216" idx="0"/>
          </p:cNvCxnSpPr>
          <p:nvPr/>
        </p:nvCxnSpPr>
        <p:spPr>
          <a:xfrm rot="16200000" flipH="1">
            <a:off x="1507642" y="1893344"/>
            <a:ext cx="180937" cy="2653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>
          <a:xfrm>
            <a:off x="773590" y="3194692"/>
            <a:ext cx="1080000" cy="324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轻食市场</a:t>
            </a:r>
            <a:endParaRPr lang="en-US" altLang="zh-CN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宏观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SWOT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分析</a:t>
            </a:r>
          </a:p>
        </p:txBody>
      </p:sp>
      <p:sp>
        <p:nvSpPr>
          <p:cNvPr id="28" name="圆角矩形 27"/>
          <p:cNvSpPr/>
          <p:nvPr/>
        </p:nvSpPr>
        <p:spPr>
          <a:xfrm>
            <a:off x="2121462" y="3194692"/>
            <a:ext cx="1080000" cy="324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描述性统计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3466178" y="3194692"/>
            <a:ext cx="1152000" cy="324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K-means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聚类</a:t>
            </a:r>
          </a:p>
        </p:txBody>
      </p:sp>
      <p:sp>
        <p:nvSpPr>
          <p:cNvPr id="227" name="圆角矩形 28">
            <a:extLst>
              <a:ext uri="{FF2B5EF4-FFF2-40B4-BE49-F238E27FC236}">
                <a16:creationId xmlns:a16="http://schemas.microsoft.com/office/drawing/2014/main" id="{68BD2A61-03C3-3C78-4304-841CB7CBFC70}"/>
              </a:ext>
            </a:extLst>
          </p:cNvPr>
          <p:cNvSpPr/>
          <p:nvPr/>
        </p:nvSpPr>
        <p:spPr>
          <a:xfrm>
            <a:off x="4846844" y="3194692"/>
            <a:ext cx="1080000" cy="324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KANO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模型：</a:t>
            </a:r>
            <a:endParaRPr lang="en-US" altLang="zh-CN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需求对比分析</a:t>
            </a:r>
          </a:p>
        </p:txBody>
      </p:sp>
      <p:cxnSp>
        <p:nvCxnSpPr>
          <p:cNvPr id="246" name="肘形连接符 32">
            <a:extLst>
              <a:ext uri="{FF2B5EF4-FFF2-40B4-BE49-F238E27FC236}">
                <a16:creationId xmlns:a16="http://schemas.microsoft.com/office/drawing/2014/main" id="{49D027E1-68D5-4433-0C33-E2509B9C0B28}"/>
              </a:ext>
            </a:extLst>
          </p:cNvPr>
          <p:cNvCxnSpPr>
            <a:cxnSpLocks/>
            <a:stCxn id="26" idx="2"/>
            <a:endCxn id="227" idx="0"/>
          </p:cNvCxnSpPr>
          <p:nvPr/>
        </p:nvCxnSpPr>
        <p:spPr>
          <a:xfrm rot="16200000" flipH="1">
            <a:off x="4300149" y="2107997"/>
            <a:ext cx="148854" cy="202453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圆角矩形 44">
            <a:extLst>
              <a:ext uri="{FF2B5EF4-FFF2-40B4-BE49-F238E27FC236}">
                <a16:creationId xmlns:a16="http://schemas.microsoft.com/office/drawing/2014/main" id="{75616BDB-B789-A2C3-53F6-E365AB032E03}"/>
              </a:ext>
            </a:extLst>
          </p:cNvPr>
          <p:cNvSpPr/>
          <p:nvPr/>
        </p:nvSpPr>
        <p:spPr>
          <a:xfrm>
            <a:off x="3881474" y="3699814"/>
            <a:ext cx="324000" cy="990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四类核心</a:t>
            </a:r>
            <a:endParaRPr lang="en-US" altLang="zh-CN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轻食消费群体</a:t>
            </a:r>
          </a:p>
        </p:txBody>
      </p:sp>
      <p:cxnSp>
        <p:nvCxnSpPr>
          <p:cNvPr id="253" name="肘形连接符 58">
            <a:extLst>
              <a:ext uri="{FF2B5EF4-FFF2-40B4-BE49-F238E27FC236}">
                <a16:creationId xmlns:a16="http://schemas.microsoft.com/office/drawing/2014/main" id="{B4B33A0A-743F-002C-E518-28EAEEA28742}"/>
              </a:ext>
            </a:extLst>
          </p:cNvPr>
          <p:cNvCxnSpPr>
            <a:cxnSpLocks/>
            <a:stCxn id="29" idx="2"/>
            <a:endCxn id="252" idx="0"/>
          </p:cNvCxnSpPr>
          <p:nvPr/>
        </p:nvCxnSpPr>
        <p:spPr>
          <a:xfrm rot="16200000" flipH="1">
            <a:off x="3952265" y="3608605"/>
            <a:ext cx="181122" cy="129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C4D3FE07-F967-3E47-B219-82D63BABCA32}"/>
              </a:ext>
            </a:extLst>
          </p:cNvPr>
          <p:cNvGrpSpPr/>
          <p:nvPr/>
        </p:nvGrpSpPr>
        <p:grpSpPr>
          <a:xfrm>
            <a:off x="4616638" y="3671059"/>
            <a:ext cx="1248313" cy="1116000"/>
            <a:chOff x="2473050" y="4454978"/>
            <a:chExt cx="1248313" cy="969495"/>
          </a:xfrm>
        </p:grpSpPr>
        <p:sp>
          <p:nvSpPr>
            <p:cNvPr id="257" name="圆角矩形 39">
              <a:extLst>
                <a:ext uri="{FF2B5EF4-FFF2-40B4-BE49-F238E27FC236}">
                  <a16:creationId xmlns:a16="http://schemas.microsoft.com/office/drawing/2014/main" id="{02C3FC91-C71B-8004-A89C-AF49EBF79D25}"/>
                </a:ext>
              </a:extLst>
            </p:cNvPr>
            <p:cNvSpPr/>
            <p:nvPr/>
          </p:nvSpPr>
          <p:spPr>
            <a:xfrm>
              <a:off x="2507687" y="4490569"/>
              <a:ext cx="324000" cy="88137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轻食市场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共性需求</a:t>
              </a:r>
            </a:p>
          </p:txBody>
        </p:sp>
        <p:sp>
          <p:nvSpPr>
            <p:cNvPr id="258" name="圆角矩形 40">
              <a:extLst>
                <a:ext uri="{FF2B5EF4-FFF2-40B4-BE49-F238E27FC236}">
                  <a16:creationId xmlns:a16="http://schemas.microsoft.com/office/drawing/2014/main" id="{96F0C055-75EB-16A3-3B70-1056613BA2E3}"/>
                </a:ext>
              </a:extLst>
            </p:cNvPr>
            <p:cNvSpPr/>
            <p:nvPr/>
          </p:nvSpPr>
          <p:spPr>
            <a:xfrm>
              <a:off x="2909312" y="4490569"/>
              <a:ext cx="324000" cy="88137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不同人群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差异化需求</a:t>
              </a:r>
            </a:p>
          </p:txBody>
        </p:sp>
        <p:sp>
          <p:nvSpPr>
            <p:cNvPr id="259" name="圆角矩形 41">
              <a:extLst>
                <a:ext uri="{FF2B5EF4-FFF2-40B4-BE49-F238E27FC236}">
                  <a16:creationId xmlns:a16="http://schemas.microsoft.com/office/drawing/2014/main" id="{3121F44E-8599-DB5E-56CF-25C10B7AF27F}"/>
                </a:ext>
              </a:extLst>
            </p:cNvPr>
            <p:cNvSpPr/>
            <p:nvPr/>
          </p:nvSpPr>
          <p:spPr>
            <a:xfrm>
              <a:off x="3330521" y="4490729"/>
              <a:ext cx="324000" cy="88137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TOPSIS</a:t>
              </a: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总体需求排序</a:t>
              </a:r>
            </a:p>
          </p:txBody>
        </p:sp>
        <p:sp>
          <p:nvSpPr>
            <p:cNvPr id="262" name="圆角矩形 71">
              <a:extLst>
                <a:ext uri="{FF2B5EF4-FFF2-40B4-BE49-F238E27FC236}">
                  <a16:creationId xmlns:a16="http://schemas.microsoft.com/office/drawing/2014/main" id="{B22B7976-82A8-A35B-AFDC-345D433A55FE}"/>
                </a:ext>
              </a:extLst>
            </p:cNvPr>
            <p:cNvSpPr/>
            <p:nvPr/>
          </p:nvSpPr>
          <p:spPr>
            <a:xfrm>
              <a:off x="2473050" y="4454978"/>
              <a:ext cx="1248313" cy="96949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lgDash"/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05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275" name="圆角矩形 66">
            <a:extLst>
              <a:ext uri="{FF2B5EF4-FFF2-40B4-BE49-F238E27FC236}">
                <a16:creationId xmlns:a16="http://schemas.microsoft.com/office/drawing/2014/main" id="{2ACAADAA-BEBE-6662-75BD-65017FCDBFCA}"/>
              </a:ext>
            </a:extLst>
          </p:cNvPr>
          <p:cNvSpPr/>
          <p:nvPr/>
        </p:nvSpPr>
        <p:spPr>
          <a:xfrm>
            <a:off x="4741198" y="5726017"/>
            <a:ext cx="1152000" cy="324000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KPRO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建议</a:t>
            </a:r>
          </a:p>
        </p:txBody>
      </p:sp>
      <p:sp>
        <p:nvSpPr>
          <p:cNvPr id="284" name="下箭头 128">
            <a:extLst>
              <a:ext uri="{FF2B5EF4-FFF2-40B4-BE49-F238E27FC236}">
                <a16:creationId xmlns:a16="http://schemas.microsoft.com/office/drawing/2014/main" id="{ED76F0EA-4C3C-F26F-1DC6-2F507E32D504}"/>
              </a:ext>
            </a:extLst>
          </p:cNvPr>
          <p:cNvSpPr>
            <a:spLocks noChangeAspect="1"/>
          </p:cNvSpPr>
          <p:nvPr/>
        </p:nvSpPr>
        <p:spPr>
          <a:xfrm>
            <a:off x="3152773" y="4902470"/>
            <a:ext cx="360000" cy="299804"/>
          </a:xfrm>
          <a:prstGeom prst="downArrow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圆角矩形 33">
            <a:extLst>
              <a:ext uri="{FF2B5EF4-FFF2-40B4-BE49-F238E27FC236}">
                <a16:creationId xmlns:a16="http://schemas.microsoft.com/office/drawing/2014/main" id="{D1D9DED5-285C-FCDC-E3A1-90A3D0C67754}"/>
              </a:ext>
            </a:extLst>
          </p:cNvPr>
          <p:cNvSpPr/>
          <p:nvPr/>
        </p:nvSpPr>
        <p:spPr>
          <a:xfrm>
            <a:off x="139498" y="5716920"/>
            <a:ext cx="216000" cy="1136787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数据分析：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KPRO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7" name="圆角矩形 34">
            <a:extLst>
              <a:ext uri="{FF2B5EF4-FFF2-40B4-BE49-F238E27FC236}">
                <a16:creationId xmlns:a16="http://schemas.microsoft.com/office/drawing/2014/main" id="{9A48E316-B73B-20AA-2AEB-783CB820ED3F}"/>
              </a:ext>
            </a:extLst>
          </p:cNvPr>
          <p:cNvSpPr/>
          <p:nvPr/>
        </p:nvSpPr>
        <p:spPr>
          <a:xfrm>
            <a:off x="6333120" y="5844628"/>
            <a:ext cx="252000" cy="88137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第四章</a:t>
            </a:r>
          </a:p>
        </p:txBody>
      </p: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DDD65B28-380E-768C-A26D-B6CB77AFC29F}"/>
              </a:ext>
            </a:extLst>
          </p:cNvPr>
          <p:cNvCxnSpPr>
            <a:cxnSpLocks/>
            <a:stCxn id="286" idx="3"/>
            <a:endCxn id="285" idx="1"/>
          </p:cNvCxnSpPr>
          <p:nvPr/>
        </p:nvCxnSpPr>
        <p:spPr>
          <a:xfrm>
            <a:off x="355498" y="6285314"/>
            <a:ext cx="356745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>
            <a:extLst>
              <a:ext uri="{FF2B5EF4-FFF2-40B4-BE49-F238E27FC236}">
                <a16:creationId xmlns:a16="http://schemas.microsoft.com/office/drawing/2014/main" id="{CC59884E-5F06-35C0-731E-B53603464AAB}"/>
              </a:ext>
            </a:extLst>
          </p:cNvPr>
          <p:cNvCxnSpPr>
            <a:cxnSpLocks/>
            <a:stCxn id="287" idx="1"/>
            <a:endCxn id="285" idx="3"/>
          </p:cNvCxnSpPr>
          <p:nvPr/>
        </p:nvCxnSpPr>
        <p:spPr>
          <a:xfrm flipH="1">
            <a:off x="6012376" y="6285313"/>
            <a:ext cx="320744" cy="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肘形连接符 69">
            <a:extLst>
              <a:ext uri="{FF2B5EF4-FFF2-40B4-BE49-F238E27FC236}">
                <a16:creationId xmlns:a16="http://schemas.microsoft.com/office/drawing/2014/main" id="{D6D3C917-5270-821E-E50C-BF0DCD4FFE7A}"/>
              </a:ext>
            </a:extLst>
          </p:cNvPr>
          <p:cNvCxnSpPr>
            <a:cxnSpLocks/>
            <a:stCxn id="64" idx="2"/>
            <a:endCxn id="275" idx="0"/>
          </p:cNvCxnSpPr>
          <p:nvPr/>
        </p:nvCxnSpPr>
        <p:spPr>
          <a:xfrm rot="16200000" flipH="1">
            <a:off x="4236145" y="4644963"/>
            <a:ext cx="207217" cy="195488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肘形连接符 69">
            <a:extLst>
              <a:ext uri="{FF2B5EF4-FFF2-40B4-BE49-F238E27FC236}">
                <a16:creationId xmlns:a16="http://schemas.microsoft.com/office/drawing/2014/main" id="{8B9DD300-4D37-EA1E-0D52-F218FB78893C}"/>
              </a:ext>
            </a:extLst>
          </p:cNvPr>
          <p:cNvCxnSpPr>
            <a:cxnSpLocks/>
            <a:stCxn id="227" idx="2"/>
          </p:cNvCxnSpPr>
          <p:nvPr/>
        </p:nvCxnSpPr>
        <p:spPr>
          <a:xfrm rot="5400000">
            <a:off x="4984342" y="3347626"/>
            <a:ext cx="231436" cy="57356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肘形连接符 69">
            <a:extLst>
              <a:ext uri="{FF2B5EF4-FFF2-40B4-BE49-F238E27FC236}">
                <a16:creationId xmlns:a16="http://schemas.microsoft.com/office/drawing/2014/main" id="{E4AB6B31-3526-429D-85D5-9331901CDFF8}"/>
              </a:ext>
            </a:extLst>
          </p:cNvPr>
          <p:cNvCxnSpPr>
            <a:cxnSpLocks/>
            <a:stCxn id="227" idx="2"/>
          </p:cNvCxnSpPr>
          <p:nvPr/>
        </p:nvCxnSpPr>
        <p:spPr>
          <a:xfrm rot="5400000">
            <a:off x="5185154" y="3548438"/>
            <a:ext cx="231436" cy="17194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肘形连接符 69">
            <a:extLst>
              <a:ext uri="{FF2B5EF4-FFF2-40B4-BE49-F238E27FC236}">
                <a16:creationId xmlns:a16="http://schemas.microsoft.com/office/drawing/2014/main" id="{065A8338-BB23-352E-288B-FFEE36A2DD0E}"/>
              </a:ext>
            </a:extLst>
          </p:cNvPr>
          <p:cNvCxnSpPr>
            <a:cxnSpLocks/>
            <a:stCxn id="227" idx="2"/>
          </p:cNvCxnSpPr>
          <p:nvPr/>
        </p:nvCxnSpPr>
        <p:spPr>
          <a:xfrm rot="16200000" flipH="1">
            <a:off x="5395666" y="3509869"/>
            <a:ext cx="231621" cy="24926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808E80AA-62A7-EE84-AFAD-0350C1566F96}"/>
              </a:ext>
            </a:extLst>
          </p:cNvPr>
          <p:cNvGrpSpPr/>
          <p:nvPr/>
        </p:nvGrpSpPr>
        <p:grpSpPr>
          <a:xfrm>
            <a:off x="840783" y="6201887"/>
            <a:ext cx="1236839" cy="1070496"/>
            <a:chOff x="2473050" y="4454978"/>
            <a:chExt cx="1236839" cy="1070496"/>
          </a:xfrm>
        </p:grpSpPr>
        <p:sp>
          <p:nvSpPr>
            <p:cNvPr id="306" name="圆角矩形 39">
              <a:extLst>
                <a:ext uri="{FF2B5EF4-FFF2-40B4-BE49-F238E27FC236}">
                  <a16:creationId xmlns:a16="http://schemas.microsoft.com/office/drawing/2014/main" id="{81C657FF-9DF9-01EB-B4CB-6230571B0CE0}"/>
                </a:ext>
              </a:extLst>
            </p:cNvPr>
            <p:cNvSpPr/>
            <p:nvPr/>
          </p:nvSpPr>
          <p:spPr>
            <a:xfrm>
              <a:off x="2507687" y="4490569"/>
              <a:ext cx="360000" cy="1008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4P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理论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分析发展现状</a:t>
              </a:r>
            </a:p>
          </p:txBody>
        </p:sp>
        <p:sp>
          <p:nvSpPr>
            <p:cNvPr id="307" name="圆角矩形 40">
              <a:extLst>
                <a:ext uri="{FF2B5EF4-FFF2-40B4-BE49-F238E27FC236}">
                  <a16:creationId xmlns:a16="http://schemas.microsoft.com/office/drawing/2014/main" id="{E84C9581-5B7C-23FA-7B1B-65BCA96907FD}"/>
                </a:ext>
              </a:extLst>
            </p:cNvPr>
            <p:cNvSpPr/>
            <p:nvPr/>
          </p:nvSpPr>
          <p:spPr>
            <a:xfrm>
              <a:off x="2909312" y="4490569"/>
              <a:ext cx="360000" cy="1008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KPRO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天津概况</a:t>
              </a:r>
            </a:p>
          </p:txBody>
        </p:sp>
        <p:sp>
          <p:nvSpPr>
            <p:cNvPr id="308" name="圆角矩形 41">
              <a:extLst>
                <a:ext uri="{FF2B5EF4-FFF2-40B4-BE49-F238E27FC236}">
                  <a16:creationId xmlns:a16="http://schemas.microsoft.com/office/drawing/2014/main" id="{DAF95AC5-E437-3D04-22AB-404FE578A42F}"/>
                </a:ext>
              </a:extLst>
            </p:cNvPr>
            <p:cNvSpPr/>
            <p:nvPr/>
          </p:nvSpPr>
          <p:spPr>
            <a:xfrm>
              <a:off x="3310937" y="4490569"/>
              <a:ext cx="360000" cy="1008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LDA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情感分析</a:t>
              </a:r>
            </a:p>
          </p:txBody>
        </p:sp>
        <p:sp>
          <p:nvSpPr>
            <p:cNvPr id="311" name="圆角矩形 71">
              <a:extLst>
                <a:ext uri="{FF2B5EF4-FFF2-40B4-BE49-F238E27FC236}">
                  <a16:creationId xmlns:a16="http://schemas.microsoft.com/office/drawing/2014/main" id="{90B74701-8BC4-FF22-EFC6-C885120C0F22}"/>
                </a:ext>
              </a:extLst>
            </p:cNvPr>
            <p:cNvSpPr/>
            <p:nvPr/>
          </p:nvSpPr>
          <p:spPr>
            <a:xfrm>
              <a:off x="2473050" y="4454978"/>
              <a:ext cx="1236839" cy="1070496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lgDash"/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05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12" name="组合 311">
            <a:extLst>
              <a:ext uri="{FF2B5EF4-FFF2-40B4-BE49-F238E27FC236}">
                <a16:creationId xmlns:a16="http://schemas.microsoft.com/office/drawing/2014/main" id="{26DC561B-3C41-F285-D52B-FEA97212CE85}"/>
              </a:ext>
            </a:extLst>
          </p:cNvPr>
          <p:cNvGrpSpPr/>
          <p:nvPr/>
        </p:nvGrpSpPr>
        <p:grpSpPr>
          <a:xfrm>
            <a:off x="2337624" y="6201887"/>
            <a:ext cx="877807" cy="1070496"/>
            <a:chOff x="2473051" y="4454978"/>
            <a:chExt cx="877807" cy="1070496"/>
          </a:xfrm>
        </p:grpSpPr>
        <p:sp>
          <p:nvSpPr>
            <p:cNvPr id="313" name="圆角矩形 39">
              <a:extLst>
                <a:ext uri="{FF2B5EF4-FFF2-40B4-BE49-F238E27FC236}">
                  <a16:creationId xmlns:a16="http://schemas.microsoft.com/office/drawing/2014/main" id="{75AB1CE8-DDF9-DA14-0454-8948C978B19F}"/>
                </a:ext>
              </a:extLst>
            </p:cNvPr>
            <p:cNvSpPr/>
            <p:nvPr/>
          </p:nvSpPr>
          <p:spPr>
            <a:xfrm>
              <a:off x="2507687" y="4490569"/>
              <a:ext cx="360000" cy="1008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横向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：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品牌对比</a:t>
              </a:r>
            </a:p>
          </p:txBody>
        </p:sp>
        <p:sp>
          <p:nvSpPr>
            <p:cNvPr id="314" name="圆角矩形 40">
              <a:extLst>
                <a:ext uri="{FF2B5EF4-FFF2-40B4-BE49-F238E27FC236}">
                  <a16:creationId xmlns:a16="http://schemas.microsoft.com/office/drawing/2014/main" id="{377BAB84-F9BF-26F4-346E-FDF44141A635}"/>
                </a:ext>
              </a:extLst>
            </p:cNvPr>
            <p:cNvSpPr/>
            <p:nvPr/>
          </p:nvSpPr>
          <p:spPr>
            <a:xfrm>
              <a:off x="2943480" y="4490615"/>
              <a:ext cx="360000" cy="1008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纵向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：</a:t>
              </a:r>
              <a:r>
                <a: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KPRO</a:t>
              </a: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其他城市对比</a:t>
              </a:r>
            </a:p>
          </p:txBody>
        </p:sp>
        <p:sp>
          <p:nvSpPr>
            <p:cNvPr id="316" name="圆角矩形 71">
              <a:extLst>
                <a:ext uri="{FF2B5EF4-FFF2-40B4-BE49-F238E27FC236}">
                  <a16:creationId xmlns:a16="http://schemas.microsoft.com/office/drawing/2014/main" id="{1A753496-4B6F-10DB-CB28-D39DAE9911C3}"/>
                </a:ext>
              </a:extLst>
            </p:cNvPr>
            <p:cNvSpPr/>
            <p:nvPr/>
          </p:nvSpPr>
          <p:spPr>
            <a:xfrm>
              <a:off x="2473051" y="4454978"/>
              <a:ext cx="877807" cy="1070496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lgDash"/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05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327" name="肘形连接符 69">
            <a:extLst>
              <a:ext uri="{FF2B5EF4-FFF2-40B4-BE49-F238E27FC236}">
                <a16:creationId xmlns:a16="http://schemas.microsoft.com/office/drawing/2014/main" id="{E7BD70E1-39FA-FD42-45BB-74175D6B644B}"/>
              </a:ext>
            </a:extLst>
          </p:cNvPr>
          <p:cNvCxnSpPr>
            <a:cxnSpLocks/>
            <a:stCxn id="65" idx="2"/>
            <a:endCxn id="306" idx="0"/>
          </p:cNvCxnSpPr>
          <p:nvPr/>
        </p:nvCxnSpPr>
        <p:spPr>
          <a:xfrm rot="5400000">
            <a:off x="1153844" y="5951594"/>
            <a:ext cx="187461" cy="384307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肘形连接符 69">
            <a:extLst>
              <a:ext uri="{FF2B5EF4-FFF2-40B4-BE49-F238E27FC236}">
                <a16:creationId xmlns:a16="http://schemas.microsoft.com/office/drawing/2014/main" id="{8535B0CE-08B1-4012-4FD8-57608564DC4B}"/>
              </a:ext>
            </a:extLst>
          </p:cNvPr>
          <p:cNvCxnSpPr>
            <a:cxnSpLocks/>
            <a:stCxn id="65" idx="2"/>
            <a:endCxn id="307" idx="0"/>
          </p:cNvCxnSpPr>
          <p:nvPr/>
        </p:nvCxnSpPr>
        <p:spPr>
          <a:xfrm rot="16200000" flipH="1">
            <a:off x="1354656" y="6135088"/>
            <a:ext cx="187461" cy="17318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肘形连接符 69">
            <a:extLst>
              <a:ext uri="{FF2B5EF4-FFF2-40B4-BE49-F238E27FC236}">
                <a16:creationId xmlns:a16="http://schemas.microsoft.com/office/drawing/2014/main" id="{8C64A9B7-09A5-84D4-A91C-7EE04972E379}"/>
              </a:ext>
            </a:extLst>
          </p:cNvPr>
          <p:cNvCxnSpPr>
            <a:cxnSpLocks/>
            <a:stCxn id="65" idx="2"/>
            <a:endCxn id="308" idx="0"/>
          </p:cNvCxnSpPr>
          <p:nvPr/>
        </p:nvCxnSpPr>
        <p:spPr>
          <a:xfrm rot="16200000" flipH="1">
            <a:off x="1555468" y="5934275"/>
            <a:ext cx="187461" cy="418943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肘形连接符 69">
            <a:extLst>
              <a:ext uri="{FF2B5EF4-FFF2-40B4-BE49-F238E27FC236}">
                <a16:creationId xmlns:a16="http://schemas.microsoft.com/office/drawing/2014/main" id="{1A96DE45-A431-469C-8F0D-55D2A842C466}"/>
              </a:ext>
            </a:extLst>
          </p:cNvPr>
          <p:cNvCxnSpPr>
            <a:cxnSpLocks/>
            <a:stCxn id="66" idx="2"/>
            <a:endCxn id="313" idx="0"/>
          </p:cNvCxnSpPr>
          <p:nvPr/>
        </p:nvCxnSpPr>
        <p:spPr>
          <a:xfrm rot="5400000">
            <a:off x="2556245" y="6046032"/>
            <a:ext cx="187461" cy="19543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肘形连接符 69">
            <a:extLst>
              <a:ext uri="{FF2B5EF4-FFF2-40B4-BE49-F238E27FC236}">
                <a16:creationId xmlns:a16="http://schemas.microsoft.com/office/drawing/2014/main" id="{2A494F35-D3E5-596A-8EAF-1740378BC23F}"/>
              </a:ext>
            </a:extLst>
          </p:cNvPr>
          <p:cNvCxnSpPr>
            <a:cxnSpLocks/>
            <a:stCxn id="66" idx="2"/>
            <a:endCxn id="314" idx="0"/>
          </p:cNvCxnSpPr>
          <p:nvPr/>
        </p:nvCxnSpPr>
        <p:spPr>
          <a:xfrm rot="16200000" flipH="1">
            <a:off x="2774118" y="6023588"/>
            <a:ext cx="187507" cy="24036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肘形连接符 69">
            <a:extLst>
              <a:ext uri="{FF2B5EF4-FFF2-40B4-BE49-F238E27FC236}">
                <a16:creationId xmlns:a16="http://schemas.microsoft.com/office/drawing/2014/main" id="{9DAB97D2-2FD1-2218-03DB-D391EFE3364B}"/>
              </a:ext>
            </a:extLst>
          </p:cNvPr>
          <p:cNvCxnSpPr>
            <a:cxnSpLocks/>
            <a:stCxn id="67" idx="2"/>
            <a:endCxn id="317" idx="0"/>
          </p:cNvCxnSpPr>
          <p:nvPr/>
        </p:nvCxnSpPr>
        <p:spPr>
          <a:xfrm rot="5400000">
            <a:off x="3850121" y="6027371"/>
            <a:ext cx="176751" cy="22204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肘形连接符 69">
            <a:extLst>
              <a:ext uri="{FF2B5EF4-FFF2-40B4-BE49-F238E27FC236}">
                <a16:creationId xmlns:a16="http://schemas.microsoft.com/office/drawing/2014/main" id="{97230D22-B2BC-99EE-0F4E-9A0FBFAB9F1B}"/>
              </a:ext>
            </a:extLst>
          </p:cNvPr>
          <p:cNvCxnSpPr>
            <a:cxnSpLocks/>
            <a:stCxn id="67" idx="2"/>
            <a:endCxn id="318" idx="0"/>
          </p:cNvCxnSpPr>
          <p:nvPr/>
        </p:nvCxnSpPr>
        <p:spPr>
          <a:xfrm rot="16200000" flipH="1">
            <a:off x="4065016" y="6034517"/>
            <a:ext cx="176751" cy="20774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圆角矩形 66">
            <a:extLst>
              <a:ext uri="{FF2B5EF4-FFF2-40B4-BE49-F238E27FC236}">
                <a16:creationId xmlns:a16="http://schemas.microsoft.com/office/drawing/2014/main" id="{434785E8-3409-6732-1D6D-D6695359956E}"/>
              </a:ext>
            </a:extLst>
          </p:cNvPr>
          <p:cNvSpPr/>
          <p:nvPr/>
        </p:nvSpPr>
        <p:spPr>
          <a:xfrm>
            <a:off x="2312631" y="1985140"/>
            <a:ext cx="1080000" cy="22617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多阶段 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PPS 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抽样</a:t>
            </a:r>
          </a:p>
        </p:txBody>
      </p:sp>
      <p:cxnSp>
        <p:nvCxnSpPr>
          <p:cNvPr id="350" name="肘形连接符 69">
            <a:extLst>
              <a:ext uri="{FF2B5EF4-FFF2-40B4-BE49-F238E27FC236}">
                <a16:creationId xmlns:a16="http://schemas.microsoft.com/office/drawing/2014/main" id="{D65CF8D5-7AC4-F083-843E-C88BF6A409C8}"/>
              </a:ext>
            </a:extLst>
          </p:cNvPr>
          <p:cNvCxnSpPr>
            <a:cxnSpLocks/>
            <a:stCxn id="17" idx="2"/>
            <a:endCxn id="348" idx="0"/>
          </p:cNvCxnSpPr>
          <p:nvPr/>
        </p:nvCxnSpPr>
        <p:spPr>
          <a:xfrm rot="5400000">
            <a:off x="3012048" y="1644786"/>
            <a:ext cx="180937" cy="49977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圆角矩形 4">
            <a:extLst>
              <a:ext uri="{FF2B5EF4-FFF2-40B4-BE49-F238E27FC236}">
                <a16:creationId xmlns:a16="http://schemas.microsoft.com/office/drawing/2014/main" id="{371C3911-CD52-4039-2E12-FA6786B19392}"/>
              </a:ext>
            </a:extLst>
          </p:cNvPr>
          <p:cNvSpPr/>
          <p:nvPr/>
        </p:nvSpPr>
        <p:spPr>
          <a:xfrm>
            <a:off x="2480309" y="308795"/>
            <a:ext cx="1764000" cy="216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天津市轻食市场需求调查</a:t>
            </a:r>
          </a:p>
        </p:txBody>
      </p:sp>
      <p:sp>
        <p:nvSpPr>
          <p:cNvPr id="21" name="圆角矩形 71">
            <a:extLst>
              <a:ext uri="{FF2B5EF4-FFF2-40B4-BE49-F238E27FC236}">
                <a16:creationId xmlns:a16="http://schemas.microsoft.com/office/drawing/2014/main" id="{2E645F84-9DED-8057-811D-30EC1D96F05C}"/>
              </a:ext>
            </a:extLst>
          </p:cNvPr>
          <p:cNvSpPr/>
          <p:nvPr/>
        </p:nvSpPr>
        <p:spPr>
          <a:xfrm>
            <a:off x="3523156" y="1944818"/>
            <a:ext cx="2403688" cy="312066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lgDash"/>
            <a:tailEnd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7" name="肘形连接符 10">
            <a:extLst>
              <a:ext uri="{FF2B5EF4-FFF2-40B4-BE49-F238E27FC236}">
                <a16:creationId xmlns:a16="http://schemas.microsoft.com/office/drawing/2014/main" id="{6E65555A-328A-7AE8-1E8C-BDEA30D43421}"/>
              </a:ext>
            </a:extLst>
          </p:cNvPr>
          <p:cNvCxnSpPr>
            <a:cxnSpLocks/>
            <a:stCxn id="8" idx="0"/>
            <a:endCxn id="353" idx="2"/>
          </p:cNvCxnSpPr>
          <p:nvPr/>
        </p:nvCxnSpPr>
        <p:spPr>
          <a:xfrm rot="16200000" flipV="1">
            <a:off x="4294962" y="-407857"/>
            <a:ext cx="235437" cy="210074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连接符 69">
            <a:extLst>
              <a:ext uri="{FF2B5EF4-FFF2-40B4-BE49-F238E27FC236}">
                <a16:creationId xmlns:a16="http://schemas.microsoft.com/office/drawing/2014/main" id="{776C868B-C0E8-9AB4-7DE1-B1E735D77F38}"/>
              </a:ext>
            </a:extLst>
          </p:cNvPr>
          <p:cNvCxnSpPr>
            <a:cxnSpLocks/>
            <a:stCxn id="275" idx="2"/>
            <a:endCxn id="50" idx="0"/>
          </p:cNvCxnSpPr>
          <p:nvPr/>
        </p:nvCxnSpPr>
        <p:spPr>
          <a:xfrm rot="5400000">
            <a:off x="5118319" y="6027888"/>
            <a:ext cx="176751" cy="22100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肘形连接符 69">
            <a:extLst>
              <a:ext uri="{FF2B5EF4-FFF2-40B4-BE49-F238E27FC236}">
                <a16:creationId xmlns:a16="http://schemas.microsoft.com/office/drawing/2014/main" id="{5FB19B3C-2CB5-5BD0-78E1-89BB0A8C25DE}"/>
              </a:ext>
            </a:extLst>
          </p:cNvPr>
          <p:cNvCxnSpPr>
            <a:cxnSpLocks/>
            <a:stCxn id="275" idx="2"/>
            <a:endCxn id="51" idx="0"/>
          </p:cNvCxnSpPr>
          <p:nvPr/>
        </p:nvCxnSpPr>
        <p:spPr>
          <a:xfrm rot="16200000" flipH="1">
            <a:off x="5333819" y="6033395"/>
            <a:ext cx="176751" cy="20999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40FD8F60-EE34-64DC-32E9-1EF316BB0BD0}"/>
              </a:ext>
            </a:extLst>
          </p:cNvPr>
          <p:cNvGrpSpPr/>
          <p:nvPr/>
        </p:nvGrpSpPr>
        <p:grpSpPr>
          <a:xfrm>
            <a:off x="3614775" y="6195520"/>
            <a:ext cx="869484" cy="1070496"/>
            <a:chOff x="3463334" y="6195520"/>
            <a:chExt cx="869484" cy="1070496"/>
          </a:xfrm>
        </p:grpSpPr>
        <p:sp>
          <p:nvSpPr>
            <p:cNvPr id="317" name="圆角矩形 39">
              <a:extLst>
                <a:ext uri="{FF2B5EF4-FFF2-40B4-BE49-F238E27FC236}">
                  <a16:creationId xmlns:a16="http://schemas.microsoft.com/office/drawing/2014/main" id="{C5650683-35FA-53DD-6197-3CC56E59BA1C}"/>
                </a:ext>
              </a:extLst>
            </p:cNvPr>
            <p:cNvSpPr/>
            <p:nvPr/>
          </p:nvSpPr>
          <p:spPr>
            <a:xfrm>
              <a:off x="3496034" y="6226768"/>
              <a:ext cx="360000" cy="1008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随机森林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：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因素重要性排序</a:t>
              </a:r>
            </a:p>
          </p:txBody>
        </p:sp>
        <p:sp>
          <p:nvSpPr>
            <p:cNvPr id="318" name="圆角矩形 40">
              <a:extLst>
                <a:ext uri="{FF2B5EF4-FFF2-40B4-BE49-F238E27FC236}">
                  <a16:creationId xmlns:a16="http://schemas.microsoft.com/office/drawing/2014/main" id="{0A664D98-D1EC-77A5-CE33-6DFF4D5D231C}"/>
                </a:ext>
              </a:extLst>
            </p:cNvPr>
            <p:cNvSpPr/>
            <p:nvPr/>
          </p:nvSpPr>
          <p:spPr>
            <a:xfrm>
              <a:off x="3925825" y="6226768"/>
              <a:ext cx="360000" cy="1008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IPA</a:t>
              </a:r>
              <a:r>
                <a:rPr lang="zh-CN" altLang="en-US" sz="105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：</a:t>
              </a:r>
            </a:p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使用效益</a:t>
              </a:r>
            </a:p>
          </p:txBody>
        </p:sp>
        <p:sp>
          <p:nvSpPr>
            <p:cNvPr id="63" name="圆角矩形 71">
              <a:extLst>
                <a:ext uri="{FF2B5EF4-FFF2-40B4-BE49-F238E27FC236}">
                  <a16:creationId xmlns:a16="http://schemas.microsoft.com/office/drawing/2014/main" id="{515F8F6D-DDAE-725A-14B6-6583FE91DE46}"/>
                </a:ext>
              </a:extLst>
            </p:cNvPr>
            <p:cNvSpPr/>
            <p:nvPr/>
          </p:nvSpPr>
          <p:spPr>
            <a:xfrm>
              <a:off x="3463334" y="6195520"/>
              <a:ext cx="869484" cy="1070496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lgDash"/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05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D82CB5F-6B43-17FF-8B31-054728CDD588}"/>
              </a:ext>
            </a:extLst>
          </p:cNvPr>
          <p:cNvGrpSpPr/>
          <p:nvPr/>
        </p:nvGrpSpPr>
        <p:grpSpPr>
          <a:xfrm>
            <a:off x="4882456" y="6195520"/>
            <a:ext cx="869484" cy="1070496"/>
            <a:chOff x="4714284" y="6195520"/>
            <a:chExt cx="869484" cy="1070496"/>
          </a:xfrm>
        </p:grpSpPr>
        <p:sp>
          <p:nvSpPr>
            <p:cNvPr id="50" name="圆角矩形 40">
              <a:extLst>
                <a:ext uri="{FF2B5EF4-FFF2-40B4-BE49-F238E27FC236}">
                  <a16:creationId xmlns:a16="http://schemas.microsoft.com/office/drawing/2014/main" id="{E4275580-F20A-519E-E563-88F67A17E718}"/>
                </a:ext>
              </a:extLst>
            </p:cNvPr>
            <p:cNvSpPr/>
            <p:nvPr/>
          </p:nvSpPr>
          <p:spPr>
            <a:xfrm>
              <a:off x="4748018" y="6226768"/>
              <a:ext cx="360000" cy="1008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专属套餐计划</a:t>
              </a:r>
            </a:p>
          </p:txBody>
        </p:sp>
        <p:sp>
          <p:nvSpPr>
            <p:cNvPr id="51" name="圆角矩形 40">
              <a:extLst>
                <a:ext uri="{FF2B5EF4-FFF2-40B4-BE49-F238E27FC236}">
                  <a16:creationId xmlns:a16="http://schemas.microsoft.com/office/drawing/2014/main" id="{13DC7097-C38E-B064-EB75-130E4C100FCA}"/>
                </a:ext>
              </a:extLst>
            </p:cNvPr>
            <p:cNvSpPr/>
            <p:nvPr/>
          </p:nvSpPr>
          <p:spPr>
            <a:xfrm>
              <a:off x="5179019" y="6226768"/>
              <a:ext cx="360000" cy="1008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品牌优化建议</a:t>
              </a:r>
            </a:p>
          </p:txBody>
        </p:sp>
        <p:sp>
          <p:nvSpPr>
            <p:cNvPr id="75" name="圆角矩形 71">
              <a:extLst>
                <a:ext uri="{FF2B5EF4-FFF2-40B4-BE49-F238E27FC236}">
                  <a16:creationId xmlns:a16="http://schemas.microsoft.com/office/drawing/2014/main" id="{D7D8615C-F5D0-30AA-A854-94D9DD7E7D8C}"/>
                </a:ext>
              </a:extLst>
            </p:cNvPr>
            <p:cNvSpPr/>
            <p:nvPr/>
          </p:nvSpPr>
          <p:spPr>
            <a:xfrm>
              <a:off x="4714284" y="6195520"/>
              <a:ext cx="869484" cy="1070496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lgDash"/>
              <a:tailEnd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05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0924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</TotalTime>
  <Words>254</Words>
  <Application>Microsoft Office PowerPoint</Application>
  <PresentationFormat>A4 纸张(210x297 毫米)</PresentationFormat>
  <Paragraphs>81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jm h</cp:lastModifiedBy>
  <cp:revision>18</cp:revision>
  <dcterms:created xsi:type="dcterms:W3CDTF">2023-12-30T08:25:47Z</dcterms:created>
  <dcterms:modified xsi:type="dcterms:W3CDTF">2026-03-31T10:44:48Z</dcterms:modified>
</cp:coreProperties>
</file>